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1188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1188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118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F172A"/>
                </a:solidFill>
                <a:latin typeface="Microsoft YaHei"/>
              </a:rPr>
              <a:t>AI时代的8层认知跃迁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Microsoft YaHei"/>
              </a:rPr>
              <a:t>从“把AI当工具”到“理解AI如何重构个人、组织与未来”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29768"/>
            <a:ext cx="228600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一页看懂认知阶梯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" y="1467612"/>
            <a:ext cx="10771632" cy="6035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426464"/>
            <a:ext cx="10771632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426464"/>
            <a:ext cx="658368" cy="603504"/>
          </a:xfrm>
          <a:prstGeom prst="round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55448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499616"/>
            <a:ext cx="3794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0F172A"/>
                </a:solidFill>
                <a:latin typeface="Microsoft YaHei"/>
              </a:rPr>
              <a:t>AI时代最大的资产不是知识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508760"/>
            <a:ext cx="5879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>
                <a:solidFill>
                  <a:srgbClr val="475569"/>
                </a:solidFill>
                <a:latin typeface="Microsoft YaHei"/>
              </a:rPr>
              <a:t>知识越来越廉价；真正稀缺的是注意力、判断力、创造力与目标感。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" y="2139696"/>
            <a:ext cx="10588752" cy="6035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" y="2098548"/>
            <a:ext cx="10588752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2098548"/>
            <a:ext cx="658368" cy="603504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2226564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171700"/>
            <a:ext cx="3794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0F172A"/>
                </a:solidFill>
                <a:latin typeface="Microsoft YaHei"/>
              </a:rPr>
              <a:t>组织会被重构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2180844"/>
            <a:ext cx="5696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>
                <a:solidFill>
                  <a:srgbClr val="475569"/>
                </a:solidFill>
                <a:latin typeface="Microsoft YaHei"/>
              </a:rPr>
              <a:t>未来可能是少数人管理大量Agent；核心能力变成组织AI、编排AI、管理AI。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" y="2811780"/>
            <a:ext cx="10405872" cy="6035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2770632"/>
            <a:ext cx="10405872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" y="2770632"/>
            <a:ext cx="658368" cy="603504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28986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843784"/>
            <a:ext cx="3794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0F172A"/>
                </a:solidFill>
                <a:latin typeface="Microsoft YaHei"/>
              </a:rPr>
              <a:t>未来人人都拥有数字分身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2" y="2852928"/>
            <a:ext cx="5513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>
                <a:solidFill>
                  <a:srgbClr val="475569"/>
                </a:solidFill>
                <a:latin typeface="Microsoft YaHei"/>
              </a:rPr>
              <a:t>AI秘书、AI销售、AI客服、AI程序员、AI设计师、AI研究员将成为个人分身。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" y="3483864"/>
            <a:ext cx="10222992" cy="6035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7552" y="3442716"/>
            <a:ext cx="10222992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7552" y="3442716"/>
            <a:ext cx="658368" cy="60350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" y="357073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3515868"/>
            <a:ext cx="3794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0F172A"/>
                </a:solidFill>
                <a:latin typeface="Microsoft YaHei"/>
              </a:rPr>
              <a:t>未来不是人机对抗，而是人机融合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3525012"/>
            <a:ext cx="5330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>
                <a:solidFill>
                  <a:srgbClr val="475569"/>
                </a:solidFill>
                <a:latin typeface="Microsoft YaHei"/>
              </a:rPr>
              <a:t>真正的竞争不是“你和AI竞争”，而是“你和会使用AI的人竞争”。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0140" y="4155948"/>
            <a:ext cx="10040112" cy="6035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78992" y="4114800"/>
            <a:ext cx="10040112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78992" y="4114800"/>
            <a:ext cx="658368" cy="6035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52144" y="4242816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4187952"/>
            <a:ext cx="3794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0F172A"/>
                </a:solidFill>
                <a:latin typeface="Microsoft YaHei"/>
              </a:rPr>
              <a:t>AI不是竞争对手，而是第二大脑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96712" y="4197096"/>
            <a:ext cx="5148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>
                <a:solidFill>
                  <a:srgbClr val="475569"/>
                </a:solidFill>
                <a:latin typeface="Microsoft YaHei"/>
              </a:rPr>
              <a:t>AI会成为思考伙伴、研究助手、写作助手、学习教练和创业顾问。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1580" y="4828032"/>
            <a:ext cx="9857232" cy="6035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70432" y="4786884"/>
            <a:ext cx="9857232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70432" y="4786884"/>
            <a:ext cx="658368" cy="603504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43584" y="491490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4860036"/>
            <a:ext cx="3794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0F172A"/>
                </a:solidFill>
                <a:latin typeface="Microsoft YaHei"/>
              </a:rPr>
              <a:t>未来最大的差距不是学历，而是AI杠杆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88152" y="4869180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>
                <a:solidFill>
                  <a:srgbClr val="475569"/>
                </a:solidFill>
                <a:latin typeface="Microsoft YaHei"/>
              </a:rPr>
              <a:t>拥有AI、自动化、Agent的人，可能产出过去一个团队的成果。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03020" y="5500116"/>
            <a:ext cx="9674352" cy="6035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261872" y="5458968"/>
            <a:ext cx="9674352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261872" y="5458968"/>
            <a:ext cx="658368" cy="60350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35024" y="5586984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5532120"/>
            <a:ext cx="3794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0F172A"/>
                </a:solidFill>
                <a:latin typeface="Microsoft YaHei"/>
              </a:rPr>
              <a:t>AI不是替代人，而是放大人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79592" y="5541264"/>
            <a:ext cx="4782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>
                <a:solidFill>
                  <a:srgbClr val="475569"/>
                </a:solidFill>
                <a:latin typeface="Microsoft YaHei"/>
              </a:rPr>
              <a:t>未来可能是：1个人 + 100个AI分身 = 100人的生产力。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94460" y="6172200"/>
            <a:ext cx="9491472" cy="6035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53312" y="6131052"/>
            <a:ext cx="9491472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53312" y="6131052"/>
            <a:ext cx="658368" cy="60350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26464" y="625906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6204204"/>
            <a:ext cx="3794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 b="1">
                <a:solidFill>
                  <a:srgbClr val="0F172A"/>
                </a:solidFill>
                <a:latin typeface="Microsoft YaHei"/>
              </a:rPr>
              <a:t>AI不是工具，而是时代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71032" y="6213348"/>
            <a:ext cx="4599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>
                <a:solidFill>
                  <a:srgbClr val="475569"/>
                </a:solidFill>
                <a:latin typeface="Microsoft YaHei"/>
              </a:rPr>
              <a:t>过去：人使用工具；未来：人管理智能体。AI更像电力、蒸汽机、互联网。</a:t>
            </a:r>
          </a:p>
        </p:txBody>
      </p:sp>
      <p:sp>
        <p:nvSpPr>
          <p:cNvPr id="57" name="Up Arrow 56"/>
          <p:cNvSpPr/>
          <p:nvPr/>
        </p:nvSpPr>
        <p:spPr>
          <a:xfrm>
            <a:off x="137160" y="1572768"/>
            <a:ext cx="256032" cy="4965192"/>
          </a:xfrm>
          <a:prstGeom prst="up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" y="2889504"/>
            <a:ext cx="502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Microsoft YaHei"/>
              </a:rPr>
              <a:t>认知升级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5800" y="6473952"/>
            <a:ext cx="10789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475569"/>
                </a:solidFill>
                <a:latin typeface="Microsoft YaHei"/>
              </a:rPr>
              <a:t>这页的讲法：先从第1层讲起，一层一层往上升；让听众看到AI不是“工具变化”，而是“认知、生产力、组织和人类价值”的连续跃迁。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118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1188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1188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81381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Microsoft YaHei"/>
              </a:rPr>
              <a:t>AI认知成长阶梯：从入门到顶层思考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9966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Microsoft YaHei"/>
              </a:rPr>
              <a:t>这不是工具学习路线，而是不同人群都能向上攀登的AI认知路线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429768"/>
            <a:ext cx="2286000" cy="475488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59669"/>
                </a:solidFill>
                <a:latin typeface="Microsoft YaHei"/>
              </a:rPr>
              <a:t>LV0 → LV7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" y="1431036"/>
            <a:ext cx="10844784" cy="6126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1389888"/>
            <a:ext cx="10844784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1389888"/>
            <a:ext cx="786384" cy="612648"/>
          </a:xfrm>
          <a:prstGeom prst="round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508760"/>
            <a:ext cx="62179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LV7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91056" y="1536192"/>
            <a:ext cx="713232" cy="26517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81C87"/>
                </a:solidFill>
                <a:latin typeface="Microsoft YaHei"/>
              </a:rPr>
              <a:t>存在层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145846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30" b="1">
                <a:solidFill>
                  <a:srgbClr val="0F172A"/>
                </a:solidFill>
                <a:latin typeface="Microsoft YaHei"/>
              </a:rPr>
              <a:t>AI如何改变人类存在本身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8736" y="1467612"/>
            <a:ext cx="5404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10">
                <a:solidFill>
                  <a:srgbClr val="475569"/>
                </a:solidFill>
                <a:latin typeface="Microsoft YaHei"/>
              </a:rPr>
              <a:t>顶层问题：什么是人、什么是意识、什么是创造力、什么是意义。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" y="2112264"/>
            <a:ext cx="10680192" cy="6126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071116"/>
            <a:ext cx="10680192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071116"/>
            <a:ext cx="786384" cy="6126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2189988"/>
            <a:ext cx="62179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LV6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73352" y="2217420"/>
            <a:ext cx="713232" cy="26517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D28D9"/>
                </a:solidFill>
                <a:latin typeface="Microsoft YaHei"/>
              </a:rPr>
              <a:t>文明层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2139696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30" b="1">
                <a:solidFill>
                  <a:srgbClr val="0F172A"/>
                </a:solidFill>
                <a:latin typeface="Microsoft YaHei"/>
              </a:rPr>
              <a:t>AI如何改变文明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148840"/>
            <a:ext cx="5239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10">
                <a:solidFill>
                  <a:srgbClr val="475569"/>
                </a:solidFill>
                <a:latin typeface="Microsoft YaHei"/>
              </a:rPr>
              <a:t>讨论AGI、超级智能、数字生命、意识复制、人机融合等终极议题。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" y="2793492"/>
            <a:ext cx="10515600" cy="6126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" y="2752344"/>
            <a:ext cx="10515600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" y="2752344"/>
            <a:ext cx="786384" cy="61264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2871216"/>
            <a:ext cx="62179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LV5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55648" y="2898648"/>
            <a:ext cx="713232" cy="26517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4F46E5"/>
                </a:solidFill>
                <a:latin typeface="Microsoft YaHei"/>
              </a:rPr>
              <a:t>社会层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2820924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30" b="1">
                <a:solidFill>
                  <a:srgbClr val="0F172A"/>
                </a:solidFill>
                <a:latin typeface="Microsoft YaHei"/>
              </a:rPr>
              <a:t>AI如何改变社会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283006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10">
                <a:solidFill>
                  <a:srgbClr val="475569"/>
                </a:solidFill>
                <a:latin typeface="Microsoft YaHei"/>
              </a:rPr>
              <a:t>理解未来10年：教育、医疗、就业、财富、制度与社会结构的变化。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" y="3474720"/>
            <a:ext cx="10351008" cy="6126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1832" y="3433572"/>
            <a:ext cx="10351008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1832" y="3433572"/>
            <a:ext cx="786384" cy="6126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" y="3552444"/>
            <a:ext cx="62179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LV4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37944" y="3579876"/>
            <a:ext cx="713232" cy="26517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563EB"/>
                </a:solidFill>
                <a:latin typeface="Microsoft YaHei"/>
              </a:rPr>
              <a:t>组织层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9192" y="350215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30" b="1">
                <a:solidFill>
                  <a:srgbClr val="0F172A"/>
                </a:solidFill>
                <a:latin typeface="Microsoft YaHei"/>
              </a:rPr>
              <a:t>AI如何改变企业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5624" y="3511296"/>
            <a:ext cx="4910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10">
                <a:solidFill>
                  <a:srgbClr val="475569"/>
                </a:solidFill>
                <a:latin typeface="Microsoft YaHei"/>
              </a:rPr>
              <a:t>老板与管理层升级：流程自动化、AI员工、组织重构、效率跃迁。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5276" y="4155948"/>
            <a:ext cx="10186416" cy="6126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4128" y="4114800"/>
            <a:ext cx="10186416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24128" y="4114800"/>
            <a:ext cx="786384" cy="61264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233672"/>
            <a:ext cx="62179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LV3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20240" y="4261104"/>
            <a:ext cx="713232" cy="26517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E7490"/>
                </a:solidFill>
                <a:latin typeface="Microsoft YaHei"/>
              </a:rPr>
              <a:t>生活层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1488" y="4183380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30" b="1">
                <a:solidFill>
                  <a:srgbClr val="0F172A"/>
                </a:solidFill>
                <a:latin typeface="Microsoft YaHei"/>
              </a:rPr>
              <a:t>AI如何改变我的生活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192524"/>
            <a:ext cx="4745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10">
                <a:solidFill>
                  <a:srgbClr val="475569"/>
                </a:solidFill>
                <a:latin typeface="Microsoft YaHei"/>
              </a:rPr>
              <a:t>让AI进入日常：学习、写作、沟通、消费、健康、家庭与个人管理。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7571" y="4837176"/>
            <a:ext cx="10021825" cy="6126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106423" y="4796028"/>
            <a:ext cx="10021825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106423" y="4796028"/>
            <a:ext cx="786384" cy="6126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9575" y="4914900"/>
            <a:ext cx="62179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LV2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02535" y="4942332"/>
            <a:ext cx="713232" cy="26517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  <a:latin typeface="Microsoft YaHei"/>
              </a:rPr>
              <a:t>职业层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43783" y="486460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30" b="1">
                <a:solidFill>
                  <a:srgbClr val="0F172A"/>
                </a:solidFill>
                <a:latin typeface="Microsoft YaHei"/>
              </a:rPr>
              <a:t>AI如何改变我的职业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215" y="4873752"/>
            <a:ext cx="458114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10">
                <a:solidFill>
                  <a:srgbClr val="475569"/>
                </a:solidFill>
                <a:latin typeface="Microsoft YaHei"/>
              </a:rPr>
              <a:t>建立危机感和机会感：哪些工作被压缩，哪些能力被放大。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29868" y="5518404"/>
            <a:ext cx="9857232" cy="6126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88720" y="5477256"/>
            <a:ext cx="9857232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88720" y="5477256"/>
            <a:ext cx="786384" cy="61264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61872" y="5596128"/>
            <a:ext cx="62179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LV1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084832" y="5623560"/>
            <a:ext cx="713232" cy="26517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97706"/>
                </a:solidFill>
                <a:latin typeface="Microsoft YaHei"/>
              </a:rPr>
              <a:t>时代层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0" y="5545836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30" b="1">
                <a:solidFill>
                  <a:srgbClr val="0F172A"/>
                </a:solidFill>
                <a:latin typeface="Microsoft YaHei"/>
              </a:rPr>
              <a:t>AI会改变什么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2512" y="5554980"/>
            <a:ext cx="4416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10">
                <a:solidFill>
                  <a:srgbClr val="475569"/>
                </a:solidFill>
                <a:latin typeface="Microsoft YaHei"/>
              </a:rPr>
              <a:t>建立时代感：理解AI是第四次工业革命，不是一个普通软件。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312164" y="6199632"/>
            <a:ext cx="9692640" cy="6126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271016" y="6158484"/>
            <a:ext cx="9692640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271016" y="6158484"/>
            <a:ext cx="786384" cy="612648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44168" y="6277356"/>
            <a:ext cx="62179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LV0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167128" y="6304788"/>
            <a:ext cx="713232" cy="26517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4748B"/>
                </a:solidFill>
                <a:latin typeface="Microsoft YaHei"/>
              </a:rPr>
              <a:t>入门层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08376" y="6227064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30" b="1">
                <a:solidFill>
                  <a:srgbClr val="0F172A"/>
                </a:solidFill>
                <a:latin typeface="Microsoft YaHei"/>
              </a:rPr>
              <a:t>AI是什么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64808" y="6236208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10">
                <a:solidFill>
                  <a:srgbClr val="475569"/>
                </a:solidFill>
                <a:latin typeface="Microsoft YaHei"/>
              </a:rPr>
              <a:t>消除恐惧与陌生感：知道AI已经来了，并且已经进入我们的生活。</a:t>
            </a:r>
          </a:p>
        </p:txBody>
      </p:sp>
      <p:sp>
        <p:nvSpPr>
          <p:cNvPr id="65" name="Up Arrow 64"/>
          <p:cNvSpPr/>
          <p:nvPr/>
        </p:nvSpPr>
        <p:spPr>
          <a:xfrm>
            <a:off x="137160" y="1572768"/>
            <a:ext cx="256032" cy="4965192"/>
          </a:xfrm>
          <a:prstGeom prst="up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" y="2743200"/>
            <a:ext cx="502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40" b="1">
                <a:solidFill>
                  <a:srgbClr val="475569"/>
                </a:solidFill>
                <a:latin typeface="Microsoft YaHei"/>
              </a:rPr>
              <a:t>从知道</a:t>
            </a:r>
            <a:br/>
            <a:r>
              <a:t>到理解</a:t>
            </a:r>
            <a:br/>
            <a:r>
              <a:t>再到洞察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5800" y="6473952"/>
            <a:ext cx="107899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475569"/>
                </a:solidFill>
                <a:latin typeface="Microsoft YaHei"/>
              </a:rPr>
              <a:t>讲法：LV0-LV3解决“我怎么面对AI”；LV4-LV5解决“组织和社会怎么变化”；LV6-LV7进入“文明与人类存在”的顶层思考。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118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1188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1188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AI世界地图：普通人必须知道的8类AI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50392"/>
            <a:ext cx="9326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Microsoft YaHei"/>
              </a:rPr>
              <a:t>不要死记工具名单，而要理解“类别、代表、能力、场景”——未来出现新AI，也能放进这张地图。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402336"/>
            <a:ext cx="2148840" cy="4754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第3页 / 世界地图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" y="1394460"/>
            <a:ext cx="2816352" cy="1216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2816352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53312"/>
            <a:ext cx="2816352" cy="21945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89888"/>
            <a:ext cx="32004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36776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80" b="1">
                <a:solidFill>
                  <a:srgbClr val="0F172A"/>
                </a:solidFill>
                <a:latin typeface="Microsoft YaHei"/>
              </a:rPr>
              <a:t>通用型大模型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88366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475569"/>
                </a:solidFill>
                <a:latin typeface="Microsoft YaHei"/>
              </a:rPr>
              <a:t>代表：ChatGPT / Gemini / Claude / DeepSeek / Qwen / Kimi / GLM / 豆包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15798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70">
                <a:solidFill>
                  <a:srgbClr val="475569"/>
                </a:solidFill>
                <a:latin typeface="Microsoft YaHei"/>
              </a:rPr>
              <a:t>能力：问问题、学习、写作、总结、翻译、推理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386583"/>
            <a:ext cx="2596896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60" b="1">
                <a:solidFill>
                  <a:srgbClr val="2563EB"/>
                </a:solidFill>
                <a:latin typeface="Microsoft YaHei"/>
              </a:rPr>
              <a:t>文本与多模态大脑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0732" y="1394460"/>
            <a:ext cx="2816352" cy="1216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38728" y="1353312"/>
            <a:ext cx="2816352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38728" y="1353312"/>
            <a:ext cx="2816352" cy="21945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1389888"/>
            <a:ext cx="32004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1636776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80" b="1">
                <a:solidFill>
                  <a:srgbClr val="0F172A"/>
                </a:solidFill>
                <a:latin typeface="Microsoft YaHei"/>
              </a:rPr>
              <a:t>搜索型AI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456" y="188366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475569"/>
                </a:solidFill>
                <a:latin typeface="Microsoft YaHei"/>
              </a:rPr>
              <a:t>代表：Perplexity / Gemini Search / Bing Copilot / 秘塔AI搜索 / 夸克AI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215798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70">
                <a:solidFill>
                  <a:srgbClr val="475569"/>
                </a:solidFill>
                <a:latin typeface="Microsoft YaHei"/>
              </a:rPr>
              <a:t>能力：联网查资料、找信息、整理来源、快速研究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48456" y="2386583"/>
            <a:ext cx="2596896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60" b="1">
                <a:solidFill>
                  <a:srgbClr val="059669"/>
                </a:solidFill>
                <a:latin typeface="Microsoft YaHei"/>
              </a:rPr>
              <a:t>会总结的搜索引擎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06540" y="1394460"/>
            <a:ext cx="2816352" cy="1216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74536" y="1353312"/>
            <a:ext cx="2816352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74536" y="1353312"/>
            <a:ext cx="2816352" cy="21945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5976" y="1389888"/>
            <a:ext cx="32004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1636776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80" b="1">
                <a:solidFill>
                  <a:srgbClr val="0F172A"/>
                </a:solidFill>
                <a:latin typeface="Microsoft YaHei"/>
              </a:rPr>
              <a:t>编程AI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188366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475569"/>
                </a:solidFill>
                <a:latin typeface="Microsoft YaHei"/>
              </a:rPr>
              <a:t>代表：Codex CLI / GitHub Copilot / Claude Code / Cursor / OpenCode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4264" y="215798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70">
                <a:solidFill>
                  <a:srgbClr val="475569"/>
                </a:solidFill>
                <a:latin typeface="Microsoft YaHei"/>
              </a:rPr>
              <a:t>能力：写代码、读项目、修Bug、生成测试、执行开发任务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84264" y="2386583"/>
            <a:ext cx="2596896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60" b="1">
                <a:solidFill>
                  <a:srgbClr val="7C3AED"/>
                </a:solidFill>
                <a:latin typeface="Microsoft YaHei"/>
              </a:rPr>
              <a:t>AI程序员与代码Agent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2348" y="1394460"/>
            <a:ext cx="2816352" cy="1216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10344" y="1353312"/>
            <a:ext cx="2816352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10344" y="1353312"/>
            <a:ext cx="2816352" cy="21945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01784" y="1389888"/>
            <a:ext cx="32004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1636776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80" b="1">
                <a:solidFill>
                  <a:srgbClr val="0F172A"/>
                </a:solidFill>
                <a:latin typeface="Microsoft YaHei"/>
              </a:rPr>
              <a:t>画图AI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188366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475569"/>
                </a:solidFill>
                <a:latin typeface="Microsoft YaHei"/>
              </a:rPr>
              <a:t>代表：Midjourney / DALL·E / Stable Diffusion / 即梦 / 通义万相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215798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70">
                <a:solidFill>
                  <a:srgbClr val="475569"/>
                </a:solidFill>
                <a:latin typeface="Microsoft YaHei"/>
              </a:rPr>
              <a:t>能力：画图、海报、插画、产品图、视觉概念设计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20072" y="2386583"/>
            <a:ext cx="2596896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60" b="1">
                <a:solidFill>
                  <a:srgbClr val="D97706"/>
                </a:solidFill>
                <a:latin typeface="Microsoft YaHei"/>
              </a:rPr>
              <a:t>AI画家与设计师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4924" y="2811780"/>
            <a:ext cx="2816352" cy="1216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2920" y="2770632"/>
            <a:ext cx="2816352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2920" y="2770632"/>
            <a:ext cx="2816352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2807208"/>
            <a:ext cx="32004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3054096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80" b="1">
                <a:solidFill>
                  <a:srgbClr val="0F172A"/>
                </a:solidFill>
                <a:latin typeface="Microsoft YaHei"/>
              </a:rPr>
              <a:t>视频AI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330098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475569"/>
                </a:solidFill>
                <a:latin typeface="Microsoft YaHei"/>
              </a:rPr>
              <a:t>代表：Sora / Runway / Pika / 可灵AI / 海螺AI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357530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70">
                <a:solidFill>
                  <a:srgbClr val="475569"/>
                </a:solidFill>
                <a:latin typeface="Microsoft YaHei"/>
              </a:rPr>
              <a:t>能力：文生视频、图生视频、视频编辑、分镜与广告素材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2648" y="3803903"/>
            <a:ext cx="2596896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60" b="1">
                <a:solidFill>
                  <a:srgbClr val="DC2626"/>
                </a:solidFill>
                <a:latin typeface="Microsoft YaHei"/>
              </a:rPr>
              <a:t>AI导演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70732" y="2811780"/>
            <a:ext cx="2816352" cy="1216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538728" y="2770632"/>
            <a:ext cx="2816352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538728" y="2770632"/>
            <a:ext cx="2816352" cy="219456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30168" y="2807208"/>
            <a:ext cx="32004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8456" y="3054096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80" b="1">
                <a:solidFill>
                  <a:srgbClr val="0F172A"/>
                </a:solidFill>
                <a:latin typeface="Microsoft YaHei"/>
              </a:rPr>
              <a:t>语音AI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48456" y="330098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475569"/>
                </a:solidFill>
                <a:latin typeface="Microsoft YaHei"/>
              </a:rPr>
              <a:t>代表：豆包语音 / 通义语音 / ElevenLabs / 讯飞星火语音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48456" y="357530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70">
                <a:solidFill>
                  <a:srgbClr val="475569"/>
                </a:solidFill>
                <a:latin typeface="Microsoft YaHei"/>
              </a:rPr>
              <a:t>能力：配音、声音克隆、实时对话、听写转录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48456" y="3803903"/>
            <a:ext cx="2596896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60" b="1">
                <a:solidFill>
                  <a:srgbClr val="0E7490"/>
                </a:solidFill>
                <a:latin typeface="Microsoft YaHei"/>
              </a:rPr>
              <a:t>AI播音员与对话伙伴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06540" y="2811780"/>
            <a:ext cx="2816352" cy="1216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574536" y="2770632"/>
            <a:ext cx="2816352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74536" y="2770632"/>
            <a:ext cx="2816352" cy="219456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65976" y="2807208"/>
            <a:ext cx="32004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84264" y="3054096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80" b="1">
                <a:solidFill>
                  <a:srgbClr val="0F172A"/>
                </a:solidFill>
                <a:latin typeface="Microsoft YaHei"/>
              </a:rPr>
              <a:t>Agent智能体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84264" y="330098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475569"/>
                </a:solidFill>
                <a:latin typeface="Microsoft YaHei"/>
              </a:rPr>
              <a:t>代表：Codex Agent / Claude Agent / Manus / 企业Agent / 自动化Agent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84264" y="357530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70">
                <a:solidFill>
                  <a:srgbClr val="475569"/>
                </a:solidFill>
                <a:latin typeface="Microsoft YaHei"/>
              </a:rPr>
              <a:t>能力：规划任务、调用工具、操作电脑、自动完成工作流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84264" y="3803903"/>
            <a:ext cx="2596896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60" b="1">
                <a:solidFill>
                  <a:srgbClr val="7E22CE"/>
                </a:solidFill>
                <a:latin typeface="Microsoft YaHei"/>
              </a:rPr>
              <a:t>未来最重要：AI员工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42348" y="2811780"/>
            <a:ext cx="2816352" cy="1216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610344" y="2770632"/>
            <a:ext cx="2816352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610344" y="2770632"/>
            <a:ext cx="2816352" cy="21945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01784" y="2807208"/>
            <a:ext cx="320040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20072" y="3054096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80" b="1">
                <a:solidFill>
                  <a:srgbClr val="0F172A"/>
                </a:solidFill>
                <a:latin typeface="Microsoft YaHei"/>
              </a:rPr>
              <a:t>机器人AI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20072" y="3300984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80">
                <a:solidFill>
                  <a:srgbClr val="475569"/>
                </a:solidFill>
                <a:latin typeface="Microsoft YaHei"/>
              </a:rPr>
              <a:t>代表：Tesla Optimus / Figure / Unitree / 机器人+大模型系统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20072" y="3575304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70">
                <a:solidFill>
                  <a:srgbClr val="475569"/>
                </a:solidFill>
                <a:latin typeface="Microsoft YaHei"/>
              </a:rPr>
              <a:t>能力：把AI装进身体：移动、抓取、感知、执行实体任务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720072" y="3803903"/>
            <a:ext cx="2596896" cy="182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60" b="1">
                <a:solidFill>
                  <a:srgbClr val="475569"/>
                </a:solidFill>
                <a:latin typeface="Microsoft YaHei"/>
              </a:rPr>
              <a:t>实体智能；可能引发自主性/类意识讨论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58368" y="5971032"/>
            <a:ext cx="10881360" cy="6583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7824" y="604418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Microsoft YaHei"/>
              </a:rPr>
              <a:t>核心认知：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74519" y="6035040"/>
            <a:ext cx="9235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>
                <a:solidFill>
                  <a:srgbClr val="475569"/>
                </a:solidFill>
                <a:latin typeface="Microsoft YaHei"/>
              </a:rPr>
              <a:t>通用模型负责“想与说”，搜索AI负责“查”，编程/画图/视频/语音AI负责“生产”，Agent负责“执行流程”，机器人AI负责“进入现实世界”。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1188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118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1188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Microsoft YaHei"/>
              </a:rPr>
              <a:t>世界已经变了：AI会让智力开始工业化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59536"/>
            <a:ext cx="9601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60">
                <a:solidFill>
                  <a:srgbClr val="475569"/>
                </a:solidFill>
                <a:latin typeface="Microsoft YaHei"/>
              </a:rPr>
              <a:t>每一次大变化，刚开始都像“可选项”；几年后，它会变成所有人默认依赖的生活基础设施。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393192"/>
            <a:ext cx="2057400" cy="475488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D97706"/>
                </a:solidFill>
                <a:latin typeface="Microsoft YaHei"/>
              </a:rPr>
              <a:t>第4页 / 时代变化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" y="1467612"/>
            <a:ext cx="2761488" cy="12984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" y="1426464"/>
            <a:ext cx="276148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545336"/>
            <a:ext cx="80467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FFFFFF"/>
                </a:solidFill>
                <a:latin typeface="Microsoft YaHei"/>
              </a:rPr>
              <a:t>30年前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65376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30" b="1">
                <a:solidFill>
                  <a:srgbClr val="0F172A"/>
                </a:solidFill>
                <a:latin typeface="Microsoft YaHei"/>
              </a:rPr>
              <a:t>不会天天上网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30552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>
                <a:solidFill>
                  <a:srgbClr val="475569"/>
                </a:solidFill>
                <a:latin typeface="Microsoft YaHei"/>
              </a:rPr>
              <a:t>现在：没有网络，很多工作和生活都停摆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459735"/>
            <a:ext cx="2505456" cy="2011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2563EB"/>
                </a:solidFill>
                <a:latin typeface="Microsoft YaHei"/>
              </a:rPr>
              <a:t>网络成为基础设施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73552" y="1929384"/>
            <a:ext cx="237744" cy="25603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34156" y="1467612"/>
            <a:ext cx="2761488" cy="12984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1426464"/>
            <a:ext cx="276148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30168" y="1545336"/>
            <a:ext cx="804672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FFFFFF"/>
                </a:solidFill>
                <a:latin typeface="Microsoft YaHei"/>
              </a:rPr>
              <a:t>20年前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1865376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30" b="1">
                <a:solidFill>
                  <a:srgbClr val="0F172A"/>
                </a:solidFill>
                <a:latin typeface="Microsoft YaHei"/>
              </a:rPr>
              <a:t>不会天天手机支付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130552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>
                <a:solidFill>
                  <a:srgbClr val="475569"/>
                </a:solidFill>
                <a:latin typeface="Microsoft YaHei"/>
              </a:rPr>
              <a:t>现在：买菜、打车、转账、缴费都离不开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30168" y="2459735"/>
            <a:ext cx="2505456" cy="2011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059669"/>
                </a:solidFill>
                <a:latin typeface="Microsoft YaHei"/>
              </a:rPr>
              <a:t>支付方式被重构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245352" y="1929384"/>
            <a:ext cx="237744" cy="25603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05956" y="1467612"/>
            <a:ext cx="2761488" cy="12984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73952" y="1426464"/>
            <a:ext cx="276148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01968" y="1545336"/>
            <a:ext cx="804672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FFFFFF"/>
                </a:solidFill>
                <a:latin typeface="Microsoft YaHei"/>
              </a:rPr>
              <a:t>10年前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1865376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30" b="1">
                <a:solidFill>
                  <a:srgbClr val="0F172A"/>
                </a:solidFill>
                <a:latin typeface="Microsoft YaHei"/>
              </a:rPr>
              <a:t>不会人人刷短视频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2130552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>
                <a:solidFill>
                  <a:srgbClr val="475569"/>
                </a:solidFill>
                <a:latin typeface="Microsoft YaHei"/>
              </a:rPr>
              <a:t>现在：信息、娱乐、营销、学习都被短视频改变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01968" y="2459735"/>
            <a:ext cx="2505456" cy="2011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D97706"/>
                </a:solidFill>
                <a:latin typeface="Microsoft YaHei"/>
              </a:rPr>
              <a:t>注意力入口被重构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217152" y="1929384"/>
            <a:ext cx="237744" cy="25603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77756" y="1467612"/>
            <a:ext cx="2761488" cy="129844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45752" y="1426464"/>
            <a:ext cx="276148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73768" y="1545336"/>
            <a:ext cx="80467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 b="1">
                <a:solidFill>
                  <a:srgbClr val="FFFFFF"/>
                </a:solidFill>
                <a:latin typeface="Microsoft YaHei"/>
              </a:rPr>
              <a:t>未来几年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8" y="1865376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30" b="1">
                <a:solidFill>
                  <a:srgbClr val="0F172A"/>
                </a:solidFill>
                <a:latin typeface="Microsoft YaHei"/>
              </a:rPr>
              <a:t>不会人人都用AI？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2130552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40">
                <a:solidFill>
                  <a:srgbClr val="475569"/>
                </a:solidFill>
                <a:latin typeface="Microsoft YaHei"/>
              </a:rPr>
              <a:t>未来：学习、工作、创作、决策都会接入AI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73768" y="2459735"/>
            <a:ext cx="2505456" cy="20116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7C3AED"/>
                </a:solidFill>
                <a:latin typeface="Microsoft YaHei"/>
              </a:rPr>
              <a:t>智力工具成为默认配置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2944368"/>
            <a:ext cx="10881360" cy="65836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563EB"/>
                </a:solidFill>
                <a:latin typeface="Microsoft YaHei"/>
              </a:rPr>
              <a:t>规律：一开始大家都觉得“不重要、用不上、离我很远” → 过几年它就变成“每个人默认都要用”的基础能力。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" y="3886200"/>
            <a:ext cx="340156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2688" y="4032504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99616" y="4005072"/>
            <a:ext cx="25328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75569"/>
                </a:solidFill>
                <a:latin typeface="Microsoft YaHei"/>
              </a:rPr>
              <a:t>工业革命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99616" y="4270248"/>
            <a:ext cx="25328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机器放大体力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4690872"/>
            <a:ext cx="3072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>
                <a:solidFill>
                  <a:srgbClr val="475569"/>
                </a:solidFill>
                <a:latin typeface="Microsoft YaHei"/>
              </a:rPr>
              <a:t>人类不再只靠肌肉搬运、制造、生产。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73168" y="3886200"/>
            <a:ext cx="340156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19472" y="4032504"/>
            <a:ext cx="438912" cy="43891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4005072"/>
            <a:ext cx="25328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75569"/>
                </a:solidFill>
                <a:latin typeface="Microsoft YaHei"/>
              </a:rPr>
              <a:t>互联网革命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4270248"/>
            <a:ext cx="25328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网络放大信息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690872"/>
            <a:ext cx="3072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>
                <a:solidFill>
                  <a:srgbClr val="475569"/>
                </a:solidFill>
                <a:latin typeface="Microsoft YaHei"/>
              </a:rPr>
              <a:t>信息传播、连接、交易、协作被重新组织。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9952" y="3886200"/>
            <a:ext cx="3401568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06256" y="403250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3184" y="4005072"/>
            <a:ext cx="253288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75569"/>
                </a:solidFill>
                <a:latin typeface="Microsoft YaHei"/>
              </a:rPr>
              <a:t>AI革命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3184" y="4270248"/>
            <a:ext cx="25328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  <a:latin typeface="Microsoft YaHei"/>
              </a:rPr>
              <a:t>AI放大智力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24544" y="4690872"/>
            <a:ext cx="30723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0">
                <a:solidFill>
                  <a:srgbClr val="475569"/>
                </a:solidFill>
                <a:latin typeface="Microsoft YaHei"/>
              </a:rPr>
              <a:t>学习、写作、分析、创造、决策开始被机器增强。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559552"/>
            <a:ext cx="10881360" cy="713232"/>
          </a:xfrm>
          <a:prstGeom prst="roundRect">
            <a:avLst/>
          </a:prstGeom>
          <a:solidFill>
            <a:srgbClr val="FAF5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C3AED"/>
                </a:solidFill>
                <a:latin typeface="Microsoft YaHei"/>
              </a:rPr>
              <a:t>未来的关键问题不是“我要不要用AI”，而是：当智力可以被放大，谁能更早建立AI协作能力，谁就拥有新的生产力杠杆。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1188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1188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118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1381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Microsoft YaHei"/>
              </a:rPr>
              <a:t>AI已经影响了谁？答案是：几乎所有人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59536"/>
            <a:ext cx="9509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Microsoft YaHei"/>
              </a:rPr>
              <a:t>AI不会只影响程序员，也不会只影响办公室白领；它会进入学习、工作、服务、医疗、法律、农业和交通。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93808" y="393192"/>
            <a:ext cx="2039112" cy="475488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DC2626"/>
                </a:solidFill>
                <a:latin typeface="Microsoft YaHei"/>
              </a:rPr>
              <a:t>第5页 / 影响人群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8988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1490472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4475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学生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47218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Microsoft YaHei"/>
              </a:rPr>
              <a:t>AI老师 / 辅导 / 作业助手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18105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解释知识、陪练口语、总结错题、制定学习计划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38988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38728" y="135331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48456" y="149047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44475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程序员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147218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7C3AED"/>
                </a:solidFill>
                <a:latin typeface="Microsoft YaHei"/>
              </a:rPr>
              <a:t>AI写代码 / 测试 / 调试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18105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读项目、生成代码、修Bug、写单测、自动化开发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01968" y="138988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74536" y="135331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4264" y="1490472"/>
            <a:ext cx="310896" cy="310896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77456" y="144475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设计师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8976" y="147218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DB2777"/>
                </a:solidFill>
                <a:latin typeface="Microsoft YaHei"/>
              </a:rPr>
              <a:t>AI画图 / 视频 / 创意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18105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海报、插画、产品图、短视频、分镜和视觉方案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37776" y="138988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10344" y="135331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20072" y="1490472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13264" y="144475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老师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44784" y="147218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59669"/>
                </a:solidFill>
                <a:latin typeface="Microsoft YaHei"/>
              </a:rPr>
              <a:t>AI备课 / 批改 / 个性化辅导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18105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生成教案、出题、批改作业、分析学生薄弱点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248716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245059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2648" y="2587752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254203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医生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256946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DC2626"/>
                </a:solidFill>
                <a:latin typeface="Microsoft YaHei"/>
              </a:rPr>
              <a:t>AI辅助诊断 / 影像分析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" y="29077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辅助判断病情、分析影像、整理病历、提升救治效率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248716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38728" y="245059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648456" y="2587752"/>
            <a:ext cx="310896" cy="310896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41648" y="254203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律师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3168" y="256946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E7490"/>
                </a:solidFill>
                <a:latin typeface="Microsoft YaHei"/>
              </a:rPr>
              <a:t>AI案例检索 / 合同审查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66744" y="29077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查法规、找案例、审合同、整理证据和法律意见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01968" y="248716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74536" y="245059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84264" y="2587752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77456" y="254203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老板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08976" y="256946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D97706"/>
                </a:solidFill>
                <a:latin typeface="Microsoft YaHei"/>
              </a:rPr>
              <a:t>AI员工 / 客服 / 销售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2552" y="29077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AI客服、AI销售、AI运营、AI报表、流程自动化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37776" y="248716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610344" y="245059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720072" y="2587752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13264" y="254203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农民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44784" y="256946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6A34A"/>
                </a:solidFill>
                <a:latin typeface="Microsoft YaHei"/>
              </a:rPr>
              <a:t>AI农业 / 无人机 / 监测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38360" y="29077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病虫害识别、无人机巡田、智能灌溉、产量预测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0352" y="358444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02920" y="354787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2648" y="3685032"/>
            <a:ext cx="310896" cy="310896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363931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司机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37360" y="366674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475569"/>
                </a:solidFill>
                <a:latin typeface="Microsoft YaHei"/>
              </a:rPr>
              <a:t>AI导航 / 自动驾驶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" y="40050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路线规划、辅助驾驶、车队调度、未来自动驾驶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566160" y="358444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538728" y="354787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648456" y="3685032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41648" y="363931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客服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73168" y="366674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4F46E5"/>
                </a:solidFill>
                <a:latin typeface="Microsoft YaHei"/>
              </a:rPr>
              <a:t>AI客服 / 智能外呼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66744" y="40050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类似10086：未来大量重复咨询会由AI自动响应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01968" y="358444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574536" y="354787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684264" y="3685032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77456" y="363931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销售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08976" y="366674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EA580C"/>
                </a:solidFill>
                <a:latin typeface="Microsoft YaHei"/>
              </a:rPr>
              <a:t>AI线索 / 话术 / 跟进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02552" y="40050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客户画像、销售话术、自动跟进、成交概率分析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37776" y="3584448"/>
            <a:ext cx="2816352" cy="93268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610344" y="3547872"/>
            <a:ext cx="281635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20072" y="3685032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13264" y="3639312"/>
            <a:ext cx="777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20" b="1">
                <a:solidFill>
                  <a:srgbClr val="0F172A"/>
                </a:solidFill>
                <a:latin typeface="Microsoft YaHei"/>
              </a:rPr>
              <a:t>普通家庭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44784" y="3666744"/>
            <a:ext cx="1444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D9488"/>
                </a:solidFill>
                <a:latin typeface="Microsoft YaHei"/>
              </a:rPr>
              <a:t>AI生活助理 / 家庭管家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38360" y="40050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  <a:latin typeface="Microsoft YaHei"/>
              </a:rPr>
              <a:t>购物建议、旅行规划、老人陪伴、家庭事务管理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1792" y="4864608"/>
            <a:ext cx="10954512" cy="786384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30" b="1">
                <a:solidFill>
                  <a:srgbClr val="2563EB"/>
                </a:solidFill>
                <a:latin typeface="Microsoft YaHei"/>
              </a:rPr>
              <a:t>共同规律：AI先进入“高频、重复、标准化、信息密集”的任务，再逐步进入需要判断、创意、协作和责任的复杂工作。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2" y="5815584"/>
            <a:ext cx="10954512" cy="621792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10" b="1">
                <a:solidFill>
                  <a:srgbClr val="059669"/>
                </a:solidFill>
                <a:latin typeface="Microsoft YaHei"/>
              </a:rPr>
              <a:t>结论：未来不是“某个行业要不要用AI”，而是每个行业都会重新分工——人负责目标、判断、责任，AI负责信息、生成、执行与放大。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1188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118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1188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9006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未来10年：一个人会带着AI Agent舰队工作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9509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20">
                <a:solidFill>
                  <a:srgbClr val="475569"/>
                </a:solidFill>
                <a:latin typeface="Microsoft YaHei"/>
              </a:rPr>
              <a:t>未来的差距，不只是努力程度，而是AI杠杆：你能不能把任务拆开，交给多个AI并行完成，再由人判断与验收。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384048"/>
            <a:ext cx="2057400" cy="475488"/>
          </a:xfrm>
          <a:prstGeom prst="roundRect">
            <a:avLst/>
          </a:prstGeom>
          <a:solidFill>
            <a:srgbClr val="FAF5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7C3AED"/>
                </a:solidFill>
                <a:latin typeface="Microsoft YaHei"/>
              </a:rPr>
              <a:t>第6页 / AI杠杆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376172"/>
            <a:ext cx="3310128" cy="10515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335024"/>
            <a:ext cx="331012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335024"/>
            <a:ext cx="566928" cy="105156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现在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43560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20" b="1">
                <a:solidFill>
                  <a:srgbClr val="0F172A"/>
                </a:solidFill>
                <a:latin typeface="Microsoft YaHei"/>
              </a:rPr>
              <a:t>1个人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426464"/>
            <a:ext cx="960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80" b="1">
                <a:solidFill>
                  <a:srgbClr val="475569"/>
                </a:solidFill>
                <a:latin typeface="Microsoft YaHei"/>
              </a:rPr>
              <a:t>8小时/天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81965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90">
                <a:solidFill>
                  <a:srgbClr val="475569"/>
                </a:solidFill>
                <a:latin typeface="Microsoft YaHei"/>
              </a:rPr>
              <a:t>主要靠自己的时间、精力、经验与执行速度。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2610612"/>
            <a:ext cx="3310128" cy="10515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569464"/>
            <a:ext cx="331012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569464"/>
            <a:ext cx="566928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未来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6700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20" b="1">
                <a:solidFill>
                  <a:srgbClr val="0F172A"/>
                </a:solidFill>
                <a:latin typeface="Microsoft YaHei"/>
              </a:rPr>
              <a:t>1人 + 10个AI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660904"/>
            <a:ext cx="960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80" b="1">
                <a:solidFill>
                  <a:srgbClr val="2563EB"/>
                </a:solidFill>
                <a:latin typeface="Microsoft YaHei"/>
              </a:rPr>
              <a:t>≈80小时/天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0540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90">
                <a:solidFill>
                  <a:srgbClr val="475569"/>
                </a:solidFill>
                <a:latin typeface="Microsoft YaHei"/>
              </a:rPr>
              <a:t>像管理10个并行助手：写、查、改、测、总结同时推进。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3845052"/>
            <a:ext cx="3310128" cy="10515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803904"/>
            <a:ext cx="331012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803904"/>
            <a:ext cx="566928" cy="10515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更远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90448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20" b="1">
                <a:solidFill>
                  <a:srgbClr val="0F172A"/>
                </a:solidFill>
                <a:latin typeface="Microsoft YaHei"/>
              </a:rPr>
              <a:t>1人 + 100个AI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3895344"/>
            <a:ext cx="960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80" b="1">
                <a:solidFill>
                  <a:srgbClr val="7C3AED"/>
                </a:solidFill>
                <a:latin typeface="Microsoft YaHei"/>
              </a:rPr>
              <a:t>≈800小时/天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28853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90">
                <a:solidFill>
                  <a:srgbClr val="475569"/>
                </a:solidFill>
                <a:latin typeface="Microsoft YaHei"/>
              </a:rPr>
              <a:t>当任务能被拆分和自动化，个人可能拥有团队级产出。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1335024"/>
            <a:ext cx="2697480" cy="3529584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1572768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icrosoft YaHei"/>
              </a:rPr>
              <a:t>AI杠杆公式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1975104"/>
            <a:ext cx="2304288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YaHei"/>
              </a:rPr>
              <a:t>任务拆解</a:t>
            </a:r>
            <a:br/>
            <a:r>
              <a:t>× Agent数量</a:t>
            </a:r>
            <a:br/>
            <a:r>
              <a:t>× 人类验收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212080" y="2926080"/>
            <a:ext cx="438912" cy="438912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3529584"/>
            <a:ext cx="22860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Microsoft YaHei"/>
              </a:rPr>
              <a:t>一个人</a:t>
            </a:r>
            <a:br/>
            <a:r>
              <a:t>变成一个小团队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2544" y="4407408"/>
            <a:ext cx="2212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60">
                <a:solidFill>
                  <a:srgbClr val="475569"/>
                </a:solidFill>
                <a:latin typeface="Microsoft YaHei"/>
              </a:rPr>
              <a:t>不是AI替你负责，而是AI帮你并行生产。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1335024"/>
            <a:ext cx="4526280" cy="3529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86600" y="1335024"/>
            <a:ext cx="4526280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案例：OpenClaw 创始人 Peter Steinberger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20" y="1847088"/>
            <a:ext cx="1847088" cy="438912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34072" y="1901952"/>
            <a:ext cx="6217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rial"/>
              </a:rPr>
              <a:t>7,178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19019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475569"/>
                </a:solidFill>
                <a:latin typeface="Microsoft YaHei"/>
              </a:rPr>
              <a:t>66天个人Commits，占比约86.5%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09176" y="1847088"/>
            <a:ext cx="1847088" cy="438912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82328" y="1901952"/>
            <a:ext cx="6217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rial"/>
              </a:rPr>
              <a:t>349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19019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475569"/>
                </a:solidFill>
                <a:latin typeface="Microsoft YaHei"/>
              </a:rPr>
              <a:t>最高单日提交：2026年1月9日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60920" y="2414016"/>
            <a:ext cx="1847088" cy="438912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34072" y="2468880"/>
            <a:ext cx="6217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rial"/>
              </a:rPr>
              <a:t>127/天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4152" y="246888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475569"/>
                </a:solidFill>
                <a:latin typeface="Microsoft YaHei"/>
              </a:rPr>
              <a:t>开发周期内日均Commits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09176" y="2414016"/>
            <a:ext cx="1847088" cy="438912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82328" y="2468880"/>
            <a:ext cx="6217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rial"/>
              </a:rPr>
              <a:t>3-6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22408" y="246888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475569"/>
                </a:solidFill>
                <a:latin typeface="Microsoft YaHei"/>
              </a:rPr>
              <a:t>同时运行AI Agent实例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60920" y="2980944"/>
            <a:ext cx="1847088" cy="438912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34072" y="3035808"/>
            <a:ext cx="6217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rial"/>
              </a:rPr>
              <a:t>≈600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4152" y="303580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">
                <a:solidFill>
                  <a:srgbClr val="475569"/>
                </a:solidFill>
                <a:latin typeface="Microsoft YaHei"/>
              </a:rPr>
              <a:t>峰值处理量：含Issue和他人PR</a:t>
            </a:r>
          </a:p>
        </p:txBody>
      </p:sp>
      <p:sp>
        <p:nvSpPr>
          <p:cNvPr id="50" name="Oval 49"/>
          <p:cNvSpPr/>
          <p:nvPr/>
        </p:nvSpPr>
        <p:spPr>
          <a:xfrm>
            <a:off x="7360920" y="3712464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43800" y="3657600"/>
            <a:ext cx="3730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475569"/>
                </a:solidFill>
                <a:latin typeface="Microsoft YaHei"/>
              </a:rPr>
              <a:t>他是项目Owner，主要直接push代码，不是给自己提PR。</a:t>
            </a:r>
          </a:p>
        </p:txBody>
      </p:sp>
      <p:sp>
        <p:nvSpPr>
          <p:cNvPr id="52" name="Oval 51"/>
          <p:cNvSpPr/>
          <p:nvPr/>
        </p:nvSpPr>
        <p:spPr>
          <a:xfrm>
            <a:off x="7360920" y="4023360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43800" y="3968496"/>
            <a:ext cx="3730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475569"/>
                </a:solidFill>
                <a:latin typeface="Microsoft YaHei"/>
              </a:rPr>
              <a:t>开发方式：指挥Claude、Codex等模型并行生成代码。</a:t>
            </a:r>
          </a:p>
        </p:txBody>
      </p:sp>
      <p:sp>
        <p:nvSpPr>
          <p:cNvPr id="54" name="Oval 53"/>
          <p:cNvSpPr/>
          <p:nvPr/>
        </p:nvSpPr>
        <p:spPr>
          <a:xfrm>
            <a:off x="7360920" y="433425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43800" y="4279392"/>
            <a:ext cx="373075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0F172A"/>
                </a:solidFill>
                <a:latin typeface="Microsoft YaHei"/>
              </a:rPr>
              <a:t>人的角色变化：从“亲手写每行代码”转向“审核、合并、承担质量责任”。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6912" y="4617720"/>
            <a:ext cx="4041648" cy="18288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D97706"/>
                </a:solidFill>
                <a:latin typeface="Microsoft YaHei"/>
              </a:rPr>
              <a:t>注意：AI高杠杆 ≠ 低质量PR轰炸；Owner必须承担最终质量责任。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5285232"/>
            <a:ext cx="10881360" cy="749808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59669"/>
                </a:solidFill>
                <a:latin typeface="Microsoft YaHei"/>
              </a:rPr>
              <a:t>结论：未来的强者，不只是更努力的人，而是能指挥AI Agent、拆解任务、并行推进、最终验收并负责的人。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" y="63276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475569"/>
                </a:solidFill>
                <a:latin typeface="Microsoft YaHei"/>
              </a:rPr>
              <a:t>讲法：OpenClaw案例不是鼓励盲目提交，而是说明“一个人管理多个AI Agent”的生产力形态已经出现。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118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1188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1188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595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Microsoft YaHei"/>
              </a:rPr>
              <a:t>不同年龄的人，应该如何看待AI？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59536"/>
            <a:ext cx="9326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60">
                <a:solidFill>
                  <a:srgbClr val="475569"/>
                </a:solidFill>
                <a:latin typeface="Microsoft YaHei"/>
              </a:rPr>
              <a:t>AI不是同一种用法适合所有人：每个阶段都有自己的入口、能力重点和成长目标。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393192"/>
            <a:ext cx="2057400" cy="475488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59669"/>
                </a:solidFill>
                <a:latin typeface="Microsoft YaHei"/>
              </a:rPr>
              <a:t>第7页 / 人群路线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" y="1412748"/>
            <a:ext cx="2816352" cy="1188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28163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816352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Microsoft YaHei"/>
              </a:rPr>
              <a:t>小学生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174650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60" b="1">
                <a:solidFill>
                  <a:srgbClr val="0F172A"/>
                </a:solidFill>
                <a:latin typeface="Microsoft YaHei"/>
              </a:rPr>
              <a:t>不要害怕AI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0299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>
                <a:solidFill>
                  <a:srgbClr val="475569"/>
                </a:solidFill>
                <a:latin typeface="Microsoft YaHei"/>
              </a:rPr>
              <a:t>把AI当学习伙伴：陪读、解释、讲故事、一起练习。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" y="2359152"/>
            <a:ext cx="2560320" cy="1737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059669"/>
                </a:solidFill>
                <a:latin typeface="Microsoft YaHei"/>
              </a:rPr>
              <a:t>陪伴学习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70732" y="1412748"/>
            <a:ext cx="2816352" cy="1188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38728" y="1371600"/>
            <a:ext cx="28163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8728" y="1371600"/>
            <a:ext cx="281635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Microsoft YaHei"/>
              </a:rPr>
              <a:t>初中生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174650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60" b="1">
                <a:solidFill>
                  <a:srgbClr val="0F172A"/>
                </a:solidFill>
                <a:latin typeface="Microsoft YaHei"/>
              </a:rPr>
              <a:t>培养好奇心和表达力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20299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>
                <a:solidFill>
                  <a:srgbClr val="475569"/>
                </a:solidFill>
                <a:latin typeface="Microsoft YaHei"/>
              </a:rPr>
              <a:t>AI的回答质量，取决于你能不能把想法说清楚。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66744" y="2359152"/>
            <a:ext cx="2560320" cy="1737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2563EB"/>
                </a:solidFill>
                <a:latin typeface="Microsoft YaHei"/>
              </a:rPr>
              <a:t>表达训练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06540" y="1412748"/>
            <a:ext cx="2816352" cy="1188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74536" y="1371600"/>
            <a:ext cx="28163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74536" y="1371600"/>
            <a:ext cx="281635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Microsoft YaHei"/>
              </a:rPr>
              <a:t>高中生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174650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60" b="1">
                <a:solidFill>
                  <a:srgbClr val="0F172A"/>
                </a:solidFill>
                <a:latin typeface="Microsoft YaHei"/>
              </a:rPr>
              <a:t>学会提问与思考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20299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>
                <a:solidFill>
                  <a:srgbClr val="475569"/>
                </a:solidFill>
                <a:latin typeface="Microsoft YaHei"/>
              </a:rPr>
              <a:t>高质量问题决定高质量答案；不要只要答案，要追问原因。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2552" y="2359152"/>
            <a:ext cx="2560320" cy="1737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7C3AED"/>
                </a:solidFill>
                <a:latin typeface="Microsoft YaHei"/>
              </a:rPr>
              <a:t>问题能力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2348" y="1412748"/>
            <a:ext cx="2816352" cy="1188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10344" y="1371600"/>
            <a:ext cx="28163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10344" y="1371600"/>
            <a:ext cx="2816352" cy="25603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Microsoft YaHei"/>
              </a:rPr>
              <a:t>大学生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174650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60" b="1">
                <a:solidFill>
                  <a:srgbClr val="0F172A"/>
                </a:solidFill>
                <a:latin typeface="Microsoft YaHei"/>
              </a:rPr>
              <a:t>用AI提升学习效率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0299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>
                <a:solidFill>
                  <a:srgbClr val="475569"/>
                </a:solidFill>
                <a:latin typeface="Microsoft YaHei"/>
              </a:rPr>
              <a:t>让AI生成结构化大纲、学习路径、复习计划，建立个人竞争力。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2359152"/>
            <a:ext cx="2560320" cy="1737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0E7490"/>
                </a:solidFill>
                <a:latin typeface="Microsoft YaHei"/>
              </a:rPr>
              <a:t>学习加速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4924" y="2839212"/>
            <a:ext cx="2816352" cy="1188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2798064"/>
            <a:ext cx="28163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2798064"/>
            <a:ext cx="2816352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Microsoft YaHei"/>
              </a:rPr>
              <a:t>职场人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" y="317296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60" b="1">
                <a:solidFill>
                  <a:srgbClr val="0F172A"/>
                </a:solidFill>
                <a:latin typeface="Microsoft YaHei"/>
              </a:rPr>
              <a:t>让AI成为工作助手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" y="345643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>
                <a:solidFill>
                  <a:srgbClr val="475569"/>
                </a:solidFill>
                <a:latin typeface="Microsoft YaHei"/>
              </a:rPr>
              <a:t>写文档、做方案、查资料、做表格、复盘会议，放大产出。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" y="3785616"/>
            <a:ext cx="2560320" cy="1737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D97706"/>
                </a:solidFill>
                <a:latin typeface="Microsoft YaHei"/>
              </a:rPr>
              <a:t>效率放大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70732" y="2839212"/>
            <a:ext cx="2816352" cy="1188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38728" y="2798064"/>
            <a:ext cx="28163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38728" y="2798064"/>
            <a:ext cx="2816352" cy="25603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Microsoft YaHei"/>
              </a:rPr>
              <a:t>管理者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66744" y="317296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60" b="1">
                <a:solidFill>
                  <a:srgbClr val="0F172A"/>
                </a:solidFill>
                <a:latin typeface="Microsoft YaHei"/>
              </a:rPr>
              <a:t>用AI重构管理方式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66744" y="345643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>
                <a:solidFill>
                  <a:srgbClr val="475569"/>
                </a:solidFill>
                <a:latin typeface="Microsoft YaHei"/>
              </a:rPr>
              <a:t>中层会被压缩；管理者要学会用AI跟进、分析、协同和验收。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66744" y="3785616"/>
            <a:ext cx="2560320" cy="1737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DC2626"/>
                </a:solidFill>
                <a:latin typeface="Microsoft YaHei"/>
              </a:rPr>
              <a:t>管理升级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06540" y="2839212"/>
            <a:ext cx="2816352" cy="1188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74536" y="2798064"/>
            <a:ext cx="28163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74536" y="2798064"/>
            <a:ext cx="2816352" cy="256032"/>
          </a:xfrm>
          <a:prstGeom prst="round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Microsoft YaHei"/>
              </a:rPr>
              <a:t>创业者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02552" y="317296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60" b="1">
                <a:solidFill>
                  <a:srgbClr val="0F172A"/>
                </a:solidFill>
                <a:latin typeface="Microsoft YaHei"/>
              </a:rPr>
              <a:t>用AI放大组织能力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02552" y="345643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>
                <a:solidFill>
                  <a:srgbClr val="475569"/>
                </a:solidFill>
                <a:latin typeface="Microsoft YaHei"/>
              </a:rPr>
              <a:t>一个人也能拥有策划、设计、代码、客服、销售和运营助手。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02552" y="3785616"/>
            <a:ext cx="2560320" cy="1737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DB2777"/>
                </a:solidFill>
                <a:latin typeface="Microsoft YaHei"/>
              </a:rPr>
              <a:t>组织杠杆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42348" y="2839212"/>
            <a:ext cx="2816352" cy="1188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610344" y="2798064"/>
            <a:ext cx="281635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10344" y="2798064"/>
            <a:ext cx="2816352" cy="25603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Microsoft YaHei"/>
              </a:rPr>
              <a:t>老年人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317296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60" b="1">
                <a:solidFill>
                  <a:srgbClr val="0F172A"/>
                </a:solidFill>
                <a:latin typeface="Microsoft YaHei"/>
              </a:rPr>
              <a:t>用AI解决生活与生命问题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60" y="345643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0">
                <a:solidFill>
                  <a:srgbClr val="475569"/>
                </a:solidFill>
                <a:latin typeface="Microsoft YaHei"/>
              </a:rPr>
              <a:t>健康、营养、医学常识、陪伴、哲学、生死与认知问题。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38360" y="3785616"/>
            <a:ext cx="2560320" cy="1737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475569"/>
                </a:solidFill>
                <a:latin typeface="Microsoft YaHei"/>
              </a:rPr>
              <a:t>生活支持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" y="4251960"/>
            <a:ext cx="1056132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2563EB"/>
                </a:solidFill>
                <a:latin typeface="Microsoft YaHei"/>
              </a:rPr>
              <a:t>成长路线：陪伴 → 表达 → 提问 → 学习加速 → 工作助手 → 管理升级 → 组织杠杆 → 生活与生命支持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" y="4956048"/>
            <a:ext cx="5166360" cy="8686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059669"/>
                </a:solidFill>
                <a:latin typeface="Microsoft YaHei"/>
              </a:rPr>
              <a:t>核心：AI不是替代人生，而是让每个阶段的人都多一个“外部大脑”和“学习伙伴”。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55080" y="4956048"/>
            <a:ext cx="5166360" cy="868680"/>
          </a:xfrm>
          <a:prstGeom prst="roundRect">
            <a:avLst/>
          </a:prstGeom>
          <a:solidFill>
            <a:srgbClr val="FAF5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7C3AED"/>
                </a:solidFill>
                <a:latin typeface="Microsoft YaHei"/>
              </a:rPr>
              <a:t>结论：每个人都能找到自己的AI入口；关键不是年龄，而是愿不愿意升级认知。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" y="63276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30">
                <a:solidFill>
                  <a:srgbClr val="475569"/>
                </a:solidFill>
                <a:latin typeface="Microsoft YaHei"/>
              </a:rPr>
              <a:t>讲法：不要让孩子恐惧AI，不要让成年人旁观AI，不要让老年人被AI时代抛下。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1188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1188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1188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1188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8778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/>
              </a:rPr>
              <a:t>AI越强，真正昂贵的东西越不是“答案”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9418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Microsoft YaHei"/>
              </a:rPr>
              <a:t>知识、代码、图片、视频会越来越便宜；真正稀缺的是方向、判断、责任、创造、勇气、灵感和行动。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384048"/>
            <a:ext cx="2057400" cy="475488"/>
          </a:xfrm>
          <a:prstGeom prst="roundRect">
            <a:avLst/>
          </a:prstGeom>
          <a:solidFill>
            <a:srgbClr val="FAF5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7C3AED"/>
                </a:solidFill>
                <a:latin typeface="Microsoft YaHei"/>
              </a:rPr>
              <a:t>第8页 / 价值重估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98448"/>
            <a:ext cx="5257800" cy="93268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563EB"/>
                </a:solidFill>
                <a:latin typeface="Microsoft YaHei"/>
              </a:rPr>
              <a:t>越来越便宜：知识 / 答案 / 代码 / 图片 / 视频 / 初稿 / 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98448"/>
            <a:ext cx="5257800" cy="932688"/>
          </a:xfrm>
          <a:prstGeom prst="round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D97706"/>
                </a:solidFill>
                <a:latin typeface="Microsoft YaHei"/>
              </a:rPr>
              <a:t>越来越昂贵：方向 / 判断 / 责任 / 创造 / 勇气 / 灵感 / 行动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414016"/>
            <a:ext cx="9921240" cy="530352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59669"/>
                </a:solidFill>
                <a:latin typeface="Microsoft YaHei"/>
              </a:rPr>
              <a:t>AI可以给出100个选择，但最终“选哪一个、为什么选、后果谁承担”，仍然属于人。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291840"/>
            <a:ext cx="1024128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" y="3291840"/>
            <a:ext cx="1024128" cy="17373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52044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1">
                <a:solidFill>
                  <a:srgbClr val="0F172A"/>
                </a:solidFill>
                <a:latin typeface="Microsoft YaHei"/>
              </a:rPr>
              <a:t>不知道AI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527048" y="3511296"/>
            <a:ext cx="109728" cy="1188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23060" y="3493008"/>
            <a:ext cx="1024128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23060" y="3493008"/>
            <a:ext cx="1024128" cy="17373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7924" y="372160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1">
                <a:solidFill>
                  <a:srgbClr val="0F172A"/>
                </a:solidFill>
                <a:latin typeface="Microsoft YaHei"/>
              </a:rPr>
              <a:t>知道AI存在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19756" y="3712464"/>
            <a:ext cx="109728" cy="1188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15768" y="3291840"/>
            <a:ext cx="1024128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15768" y="3291840"/>
            <a:ext cx="1024128" cy="17373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352044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1">
                <a:solidFill>
                  <a:srgbClr val="0F172A"/>
                </a:solidFill>
                <a:latin typeface="Microsoft YaHei"/>
              </a:rPr>
              <a:t>开始使用AI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712464" y="3511296"/>
            <a:ext cx="109728" cy="1188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08476" y="3493008"/>
            <a:ext cx="1024128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08476" y="3493008"/>
            <a:ext cx="1024128" cy="17373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3340" y="372160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1">
                <a:solidFill>
                  <a:srgbClr val="0F172A"/>
                </a:solidFill>
                <a:latin typeface="Microsoft YaHei"/>
              </a:rPr>
              <a:t>用AI提高效率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05172" y="3712464"/>
            <a:ext cx="109728" cy="1188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01184" y="3291840"/>
            <a:ext cx="1024128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01184" y="3291840"/>
            <a:ext cx="1024128" cy="173736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6048" y="352044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1">
                <a:solidFill>
                  <a:srgbClr val="0F172A"/>
                </a:solidFill>
                <a:latin typeface="Microsoft YaHei"/>
              </a:rPr>
              <a:t>AI参与工作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897880" y="3511296"/>
            <a:ext cx="109728" cy="1188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93892" y="3493008"/>
            <a:ext cx="1024128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93892" y="3493008"/>
            <a:ext cx="1024128" cy="173736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48756" y="372160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1">
                <a:solidFill>
                  <a:srgbClr val="0F172A"/>
                </a:solidFill>
                <a:latin typeface="Microsoft YaHei"/>
              </a:rPr>
              <a:t>AI参与决策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990588" y="3712464"/>
            <a:ext cx="109728" cy="1188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86600" y="3291840"/>
            <a:ext cx="1024128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086600" y="3291840"/>
            <a:ext cx="1024128" cy="17373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1464" y="352044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1">
                <a:solidFill>
                  <a:srgbClr val="0F172A"/>
                </a:solidFill>
                <a:latin typeface="Microsoft YaHei"/>
              </a:rPr>
              <a:t>与AI协作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083296" y="3511296"/>
            <a:ext cx="109728" cy="1188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79308" y="3493008"/>
            <a:ext cx="1024128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79308" y="3493008"/>
            <a:ext cx="1024128" cy="17373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4172" y="372160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1">
                <a:solidFill>
                  <a:srgbClr val="0F172A"/>
                </a:solidFill>
                <a:latin typeface="Microsoft YaHei"/>
              </a:rPr>
              <a:t>构建AI工厂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176004" y="3712464"/>
            <a:ext cx="109728" cy="1188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72016" y="3291840"/>
            <a:ext cx="1024128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272016" y="3291840"/>
            <a:ext cx="1024128" cy="17373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52044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1">
                <a:solidFill>
                  <a:srgbClr val="0F172A"/>
                </a:solidFill>
                <a:latin typeface="Microsoft YaHei"/>
              </a:rPr>
              <a:t>用AI创造价值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0268712" y="3511296"/>
            <a:ext cx="109728" cy="1188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364724" y="3493008"/>
            <a:ext cx="1024128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64724" y="3493008"/>
            <a:ext cx="1024128" cy="17373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19588" y="372160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1">
                <a:solidFill>
                  <a:srgbClr val="0F172A"/>
                </a:solidFill>
                <a:latin typeface="Microsoft YaHei"/>
              </a:rPr>
              <a:t>用AI影响别人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11361420" y="3712464"/>
            <a:ext cx="109728" cy="1188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457432" y="3291840"/>
            <a:ext cx="1024128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457432" y="3291840"/>
            <a:ext cx="1024128" cy="17373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8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12296" y="352044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" b="1">
                <a:solidFill>
                  <a:srgbClr val="0F172A"/>
                </a:solidFill>
                <a:latin typeface="Microsoft YaHei"/>
              </a:rPr>
              <a:t>推动社会认知升级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4279392"/>
            <a:ext cx="2103120" cy="29260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0" b="1">
                <a:solidFill>
                  <a:srgbClr val="2563EB"/>
                </a:solidFill>
                <a:latin typeface="Microsoft YaHei"/>
              </a:rPr>
              <a:t>认知启蒙：从不知道到敢尝试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52928" y="4279392"/>
            <a:ext cx="2286000" cy="29260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0" b="1">
                <a:solidFill>
                  <a:srgbClr val="059669"/>
                </a:solidFill>
                <a:latin typeface="Microsoft YaHei"/>
              </a:rPr>
              <a:t>效率升级：把AI放进工作流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230368" y="4279392"/>
            <a:ext cx="2148840" cy="29260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0" b="1">
                <a:solidFill>
                  <a:srgbClr val="7C3AED"/>
                </a:solidFill>
                <a:latin typeface="Microsoft YaHei"/>
              </a:rPr>
              <a:t>协作升级：让AI参与判断与执行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79792" y="4279392"/>
            <a:ext cx="3429000" cy="29260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0" b="1">
                <a:solidFill>
                  <a:srgbClr val="DC2626"/>
                </a:solidFill>
                <a:latin typeface="Microsoft YaHei"/>
              </a:rPr>
              <a:t>价值升级：创造价值、影响他人、推动社会认知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5193792"/>
            <a:ext cx="10881360" cy="804672"/>
          </a:xfrm>
          <a:prstGeom prst="roundRect">
            <a:avLst/>
          </a:prstGeom>
          <a:solidFill>
            <a:srgbClr val="FAF5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C3AED"/>
                </a:solidFill>
                <a:latin typeface="Microsoft YaHei"/>
              </a:rPr>
              <a:t>真正的升级，不是“会用一个AI工具”，而是从使用AI → 协作AI → 组织AI → 用AI创造价值 → 用AI影响更多人的认知。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" y="632764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>
                <a:solidFill>
                  <a:srgbClr val="475569"/>
                </a:solidFill>
                <a:latin typeface="Microsoft YaHei"/>
              </a:rPr>
              <a:t>讲法：AI负责提供选项，人负责方向、判断、责任和行动；这正是AI时代人的核心价值。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